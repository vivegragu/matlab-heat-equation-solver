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9" r:id="rId9"/>
    <p:sldId id="262" r:id="rId10"/>
    <p:sldId id="271" r:id="rId11"/>
    <p:sldId id="263" r:id="rId12"/>
    <p:sldId id="265" r:id="rId13"/>
    <p:sldId id="267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94682"/>
  </p:normalViewPr>
  <p:slideViewPr>
    <p:cSldViewPr snapToGrid="0" snapToObjects="1">
      <p:cViewPr varScale="1">
        <p:scale>
          <a:sx n="111" d="100"/>
          <a:sy n="111" d="100"/>
        </p:scale>
        <p:origin x="49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37D9F5-7121-423F-B60C-FA240CCD6EB2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A082B1E-A232-4856-BC4B-EA385A57017C}">
      <dgm:prSet/>
      <dgm:spPr/>
      <dgm:t>
        <a:bodyPr/>
        <a:lstStyle/>
        <a:p>
          <a:r>
            <a:rPr lang="en-US" dirty="0"/>
            <a:t>The equation: ∂u/∂t = c · ∂²u/∂x²</a:t>
          </a:r>
        </a:p>
      </dgm:t>
    </dgm:pt>
    <dgm:pt modelId="{D5EE6BBD-58CA-4742-AFCE-B3AFAFDCC101}" type="parTrans" cxnId="{F4D53335-3F25-4180-A7B6-0526672B6246}">
      <dgm:prSet/>
      <dgm:spPr/>
      <dgm:t>
        <a:bodyPr/>
        <a:lstStyle/>
        <a:p>
          <a:endParaRPr lang="en-US"/>
        </a:p>
      </dgm:t>
    </dgm:pt>
    <dgm:pt modelId="{A5FAEC33-01B9-4614-88CC-2398B55F722B}" type="sibTrans" cxnId="{F4D53335-3F25-4180-A7B6-0526672B6246}">
      <dgm:prSet/>
      <dgm:spPr/>
      <dgm:t>
        <a:bodyPr/>
        <a:lstStyle/>
        <a:p>
          <a:endParaRPr lang="en-US"/>
        </a:p>
      </dgm:t>
    </dgm:pt>
    <dgm:pt modelId="{C9DFE5EB-06C0-4A68-8AFB-6884B37A16A8}">
      <dgm:prSet/>
      <dgm:spPr/>
      <dgm:t>
        <a:bodyPr/>
        <a:lstStyle/>
        <a:p>
          <a:r>
            <a:rPr lang="en-US"/>
            <a:t>u(x, t): temperature at position x and time t</a:t>
          </a:r>
        </a:p>
      </dgm:t>
    </dgm:pt>
    <dgm:pt modelId="{5A976C58-3FD6-4CBD-B1FA-C99089A358D8}" type="parTrans" cxnId="{2C82AAEE-DADD-4C2D-A7FE-755E7E4CF305}">
      <dgm:prSet/>
      <dgm:spPr/>
      <dgm:t>
        <a:bodyPr/>
        <a:lstStyle/>
        <a:p>
          <a:endParaRPr lang="en-US"/>
        </a:p>
      </dgm:t>
    </dgm:pt>
    <dgm:pt modelId="{AA6FFD97-B827-44B2-B9F2-1A98245AF151}" type="sibTrans" cxnId="{2C82AAEE-DADD-4C2D-A7FE-755E7E4CF305}">
      <dgm:prSet/>
      <dgm:spPr/>
      <dgm:t>
        <a:bodyPr/>
        <a:lstStyle/>
        <a:p>
          <a:endParaRPr lang="en-US"/>
        </a:p>
      </dgm:t>
    </dgm:pt>
    <dgm:pt modelId="{64B5F6C6-7C81-4480-94D3-3B4AFF7FD1B9}">
      <dgm:prSet/>
      <dgm:spPr/>
      <dgm:t>
        <a:bodyPr/>
        <a:lstStyle/>
        <a:p>
          <a:r>
            <a:rPr lang="en-US"/>
            <a:t>c: material constant (how fast heat spreads)</a:t>
          </a:r>
        </a:p>
      </dgm:t>
    </dgm:pt>
    <dgm:pt modelId="{91BB278F-7FD9-4504-84F2-7994B45E4FB5}" type="parTrans" cxnId="{67F687DC-E465-431B-9378-1F9614894648}">
      <dgm:prSet/>
      <dgm:spPr/>
      <dgm:t>
        <a:bodyPr/>
        <a:lstStyle/>
        <a:p>
          <a:endParaRPr lang="en-US"/>
        </a:p>
      </dgm:t>
    </dgm:pt>
    <dgm:pt modelId="{D3048751-2488-46C6-B573-3F3C94433C26}" type="sibTrans" cxnId="{67F687DC-E465-431B-9378-1F9614894648}">
      <dgm:prSet/>
      <dgm:spPr/>
      <dgm:t>
        <a:bodyPr/>
        <a:lstStyle/>
        <a:p>
          <a:endParaRPr lang="en-US"/>
        </a:p>
      </dgm:t>
    </dgm:pt>
    <dgm:pt modelId="{77D2D850-C5D6-4ECF-B854-208C03AFA868}">
      <dgm:prSet/>
      <dgm:spPr/>
      <dgm:t>
        <a:bodyPr/>
        <a:lstStyle/>
        <a:p>
          <a:r>
            <a:rPr lang="en-US"/>
            <a:t>Boundary: u(0,t) = u(L,t) = 0 (rod ends stay at 0°C)</a:t>
          </a:r>
        </a:p>
      </dgm:t>
    </dgm:pt>
    <dgm:pt modelId="{AC12F368-87C8-4A7D-B45D-34F5C75EED5E}" type="parTrans" cxnId="{BACCC371-B919-45C5-8A8D-EADF05FBC598}">
      <dgm:prSet/>
      <dgm:spPr/>
      <dgm:t>
        <a:bodyPr/>
        <a:lstStyle/>
        <a:p>
          <a:endParaRPr lang="en-US"/>
        </a:p>
      </dgm:t>
    </dgm:pt>
    <dgm:pt modelId="{2B6A7A86-84EC-475D-A3A7-17F5D9028B5F}" type="sibTrans" cxnId="{BACCC371-B919-45C5-8A8D-EADF05FBC598}">
      <dgm:prSet/>
      <dgm:spPr/>
      <dgm:t>
        <a:bodyPr/>
        <a:lstStyle/>
        <a:p>
          <a:endParaRPr lang="en-US"/>
        </a:p>
      </dgm:t>
    </dgm:pt>
    <dgm:pt modelId="{9685B5D2-C03D-454C-AFCB-AF16F1AFF30A}">
      <dgm:prSet/>
      <dgm:spPr/>
      <dgm:t>
        <a:bodyPr/>
        <a:lstStyle/>
        <a:p>
          <a:r>
            <a:rPr lang="en-US"/>
            <a:t>Initial condition: u(x,0) = f(x), the starting temperature</a:t>
          </a:r>
        </a:p>
      </dgm:t>
    </dgm:pt>
    <dgm:pt modelId="{5613D588-9EF1-47D5-A7C6-9112DF71C75E}" type="parTrans" cxnId="{98BBB0B5-329B-441A-9352-D16E35415BD6}">
      <dgm:prSet/>
      <dgm:spPr/>
      <dgm:t>
        <a:bodyPr/>
        <a:lstStyle/>
        <a:p>
          <a:endParaRPr lang="en-US"/>
        </a:p>
      </dgm:t>
    </dgm:pt>
    <dgm:pt modelId="{CD234EA6-FF8A-42C8-83AE-6F2CADA655AF}" type="sibTrans" cxnId="{98BBB0B5-329B-441A-9352-D16E35415BD6}">
      <dgm:prSet/>
      <dgm:spPr/>
      <dgm:t>
        <a:bodyPr/>
        <a:lstStyle/>
        <a:p>
          <a:endParaRPr lang="en-US"/>
        </a:p>
      </dgm:t>
    </dgm:pt>
    <dgm:pt modelId="{18785146-56A6-43A6-91BA-FA8053B214BF}" type="pres">
      <dgm:prSet presAssocID="{BE37D9F5-7121-423F-B60C-FA240CCD6EB2}" presName="vert0" presStyleCnt="0">
        <dgm:presLayoutVars>
          <dgm:dir/>
          <dgm:animOne val="branch"/>
          <dgm:animLvl val="lvl"/>
        </dgm:presLayoutVars>
      </dgm:prSet>
      <dgm:spPr/>
    </dgm:pt>
    <dgm:pt modelId="{C09A4F22-7CCA-49DB-BB77-B734292BE699}" type="pres">
      <dgm:prSet presAssocID="{FA082B1E-A232-4856-BC4B-EA385A57017C}" presName="thickLine" presStyleLbl="alignNode1" presStyleIdx="0" presStyleCnt="5"/>
      <dgm:spPr/>
    </dgm:pt>
    <dgm:pt modelId="{9EF335E0-4B40-4939-9E06-49BC34D5FA75}" type="pres">
      <dgm:prSet presAssocID="{FA082B1E-A232-4856-BC4B-EA385A57017C}" presName="horz1" presStyleCnt="0"/>
      <dgm:spPr/>
    </dgm:pt>
    <dgm:pt modelId="{51AF31AF-E512-4A93-B529-58678A7137E2}" type="pres">
      <dgm:prSet presAssocID="{FA082B1E-A232-4856-BC4B-EA385A57017C}" presName="tx1" presStyleLbl="revTx" presStyleIdx="0" presStyleCnt="5"/>
      <dgm:spPr/>
    </dgm:pt>
    <dgm:pt modelId="{864F2C28-6E8A-447E-9DAC-2CF1F2478C1D}" type="pres">
      <dgm:prSet presAssocID="{FA082B1E-A232-4856-BC4B-EA385A57017C}" presName="vert1" presStyleCnt="0"/>
      <dgm:spPr/>
    </dgm:pt>
    <dgm:pt modelId="{83C4B76B-2113-483A-914C-7235302C36ED}" type="pres">
      <dgm:prSet presAssocID="{C9DFE5EB-06C0-4A68-8AFB-6884B37A16A8}" presName="thickLine" presStyleLbl="alignNode1" presStyleIdx="1" presStyleCnt="5"/>
      <dgm:spPr/>
    </dgm:pt>
    <dgm:pt modelId="{C5575627-2640-482A-94EE-C02EFD78ABB6}" type="pres">
      <dgm:prSet presAssocID="{C9DFE5EB-06C0-4A68-8AFB-6884B37A16A8}" presName="horz1" presStyleCnt="0"/>
      <dgm:spPr/>
    </dgm:pt>
    <dgm:pt modelId="{09230138-8EA0-4DAC-A01F-BF6346D4FAD6}" type="pres">
      <dgm:prSet presAssocID="{C9DFE5EB-06C0-4A68-8AFB-6884B37A16A8}" presName="tx1" presStyleLbl="revTx" presStyleIdx="1" presStyleCnt="5"/>
      <dgm:spPr/>
    </dgm:pt>
    <dgm:pt modelId="{AD9FDF0B-9F69-4307-9A64-72AE4EBD7B4F}" type="pres">
      <dgm:prSet presAssocID="{C9DFE5EB-06C0-4A68-8AFB-6884B37A16A8}" presName="vert1" presStyleCnt="0"/>
      <dgm:spPr/>
    </dgm:pt>
    <dgm:pt modelId="{52494165-2A03-4A57-A99F-FA3520612EC3}" type="pres">
      <dgm:prSet presAssocID="{64B5F6C6-7C81-4480-94D3-3B4AFF7FD1B9}" presName="thickLine" presStyleLbl="alignNode1" presStyleIdx="2" presStyleCnt="5"/>
      <dgm:spPr/>
    </dgm:pt>
    <dgm:pt modelId="{A93F5A5E-78E2-4CD5-97AA-17DDAEC6C43E}" type="pres">
      <dgm:prSet presAssocID="{64B5F6C6-7C81-4480-94D3-3B4AFF7FD1B9}" presName="horz1" presStyleCnt="0"/>
      <dgm:spPr/>
    </dgm:pt>
    <dgm:pt modelId="{47283331-AA5B-4924-9BA4-C3834786B376}" type="pres">
      <dgm:prSet presAssocID="{64B5F6C6-7C81-4480-94D3-3B4AFF7FD1B9}" presName="tx1" presStyleLbl="revTx" presStyleIdx="2" presStyleCnt="5"/>
      <dgm:spPr/>
    </dgm:pt>
    <dgm:pt modelId="{F2DD56D9-6AE1-4205-B176-915B3DD3C022}" type="pres">
      <dgm:prSet presAssocID="{64B5F6C6-7C81-4480-94D3-3B4AFF7FD1B9}" presName="vert1" presStyleCnt="0"/>
      <dgm:spPr/>
    </dgm:pt>
    <dgm:pt modelId="{FB1C80BF-0BFF-4A50-8700-F11F4EA512F0}" type="pres">
      <dgm:prSet presAssocID="{77D2D850-C5D6-4ECF-B854-208C03AFA868}" presName="thickLine" presStyleLbl="alignNode1" presStyleIdx="3" presStyleCnt="5"/>
      <dgm:spPr/>
    </dgm:pt>
    <dgm:pt modelId="{0700EC34-0AEE-4566-AEC8-BFDE64243104}" type="pres">
      <dgm:prSet presAssocID="{77D2D850-C5D6-4ECF-B854-208C03AFA868}" presName="horz1" presStyleCnt="0"/>
      <dgm:spPr/>
    </dgm:pt>
    <dgm:pt modelId="{F7115C90-5383-482E-8026-B5924ACC327E}" type="pres">
      <dgm:prSet presAssocID="{77D2D850-C5D6-4ECF-B854-208C03AFA868}" presName="tx1" presStyleLbl="revTx" presStyleIdx="3" presStyleCnt="5"/>
      <dgm:spPr/>
    </dgm:pt>
    <dgm:pt modelId="{C7062B81-9A4F-4DB8-BA21-22A9F112B857}" type="pres">
      <dgm:prSet presAssocID="{77D2D850-C5D6-4ECF-B854-208C03AFA868}" presName="vert1" presStyleCnt="0"/>
      <dgm:spPr/>
    </dgm:pt>
    <dgm:pt modelId="{876F35A4-379D-4857-A5E6-B0CAAB533FBE}" type="pres">
      <dgm:prSet presAssocID="{9685B5D2-C03D-454C-AFCB-AF16F1AFF30A}" presName="thickLine" presStyleLbl="alignNode1" presStyleIdx="4" presStyleCnt="5"/>
      <dgm:spPr/>
    </dgm:pt>
    <dgm:pt modelId="{C2AC2A31-97DB-4376-9377-07F68EEEF1B5}" type="pres">
      <dgm:prSet presAssocID="{9685B5D2-C03D-454C-AFCB-AF16F1AFF30A}" presName="horz1" presStyleCnt="0"/>
      <dgm:spPr/>
    </dgm:pt>
    <dgm:pt modelId="{7213ACDD-1300-4AFA-9AB5-E26E0731F3BB}" type="pres">
      <dgm:prSet presAssocID="{9685B5D2-C03D-454C-AFCB-AF16F1AFF30A}" presName="tx1" presStyleLbl="revTx" presStyleIdx="4" presStyleCnt="5"/>
      <dgm:spPr/>
    </dgm:pt>
    <dgm:pt modelId="{5DA47041-A33B-4A88-B0F0-E612F82D3E4E}" type="pres">
      <dgm:prSet presAssocID="{9685B5D2-C03D-454C-AFCB-AF16F1AFF30A}" presName="vert1" presStyleCnt="0"/>
      <dgm:spPr/>
    </dgm:pt>
  </dgm:ptLst>
  <dgm:cxnLst>
    <dgm:cxn modelId="{EFFAE70D-2BBC-4517-9A26-03F770ADF1B4}" type="presOf" srcId="{64B5F6C6-7C81-4480-94D3-3B4AFF7FD1B9}" destId="{47283331-AA5B-4924-9BA4-C3834786B376}" srcOrd="0" destOrd="0" presId="urn:microsoft.com/office/officeart/2008/layout/LinedList"/>
    <dgm:cxn modelId="{14A2D22D-07B9-44CD-ACC8-4947C43F050C}" type="presOf" srcId="{C9DFE5EB-06C0-4A68-8AFB-6884B37A16A8}" destId="{09230138-8EA0-4DAC-A01F-BF6346D4FAD6}" srcOrd="0" destOrd="0" presId="urn:microsoft.com/office/officeart/2008/layout/LinedList"/>
    <dgm:cxn modelId="{F4D53335-3F25-4180-A7B6-0526672B6246}" srcId="{BE37D9F5-7121-423F-B60C-FA240CCD6EB2}" destId="{FA082B1E-A232-4856-BC4B-EA385A57017C}" srcOrd="0" destOrd="0" parTransId="{D5EE6BBD-58CA-4742-AFCE-B3AFAFDCC101}" sibTransId="{A5FAEC33-01B9-4614-88CC-2398B55F722B}"/>
    <dgm:cxn modelId="{2FB4153B-0604-42B8-AFCA-F60AC50B3516}" type="presOf" srcId="{BE37D9F5-7121-423F-B60C-FA240CCD6EB2}" destId="{18785146-56A6-43A6-91BA-FA8053B214BF}" srcOrd="0" destOrd="0" presId="urn:microsoft.com/office/officeart/2008/layout/LinedList"/>
    <dgm:cxn modelId="{2B2CC85E-516E-4BF2-9013-DA3AA5B22705}" type="presOf" srcId="{FA082B1E-A232-4856-BC4B-EA385A57017C}" destId="{51AF31AF-E512-4A93-B529-58678A7137E2}" srcOrd="0" destOrd="0" presId="urn:microsoft.com/office/officeart/2008/layout/LinedList"/>
    <dgm:cxn modelId="{BACCC371-B919-45C5-8A8D-EADF05FBC598}" srcId="{BE37D9F5-7121-423F-B60C-FA240CCD6EB2}" destId="{77D2D850-C5D6-4ECF-B854-208C03AFA868}" srcOrd="3" destOrd="0" parTransId="{AC12F368-87C8-4A7D-B45D-34F5C75EED5E}" sibTransId="{2B6A7A86-84EC-475D-A3A7-17F5D9028B5F}"/>
    <dgm:cxn modelId="{3B0CB172-4DFD-4C69-A177-AF1538918B05}" type="presOf" srcId="{77D2D850-C5D6-4ECF-B854-208C03AFA868}" destId="{F7115C90-5383-482E-8026-B5924ACC327E}" srcOrd="0" destOrd="0" presId="urn:microsoft.com/office/officeart/2008/layout/LinedList"/>
    <dgm:cxn modelId="{98BBB0B5-329B-441A-9352-D16E35415BD6}" srcId="{BE37D9F5-7121-423F-B60C-FA240CCD6EB2}" destId="{9685B5D2-C03D-454C-AFCB-AF16F1AFF30A}" srcOrd="4" destOrd="0" parTransId="{5613D588-9EF1-47D5-A7C6-9112DF71C75E}" sibTransId="{CD234EA6-FF8A-42C8-83AE-6F2CADA655AF}"/>
    <dgm:cxn modelId="{67F687DC-E465-431B-9378-1F9614894648}" srcId="{BE37D9F5-7121-423F-B60C-FA240CCD6EB2}" destId="{64B5F6C6-7C81-4480-94D3-3B4AFF7FD1B9}" srcOrd="2" destOrd="0" parTransId="{91BB278F-7FD9-4504-84F2-7994B45E4FB5}" sibTransId="{D3048751-2488-46C6-B573-3F3C94433C26}"/>
    <dgm:cxn modelId="{2C82AAEE-DADD-4C2D-A7FE-755E7E4CF305}" srcId="{BE37D9F5-7121-423F-B60C-FA240CCD6EB2}" destId="{C9DFE5EB-06C0-4A68-8AFB-6884B37A16A8}" srcOrd="1" destOrd="0" parTransId="{5A976C58-3FD6-4CBD-B1FA-C99089A358D8}" sibTransId="{AA6FFD97-B827-44B2-B9F2-1A98245AF151}"/>
    <dgm:cxn modelId="{AD3818FF-549A-4350-AFF6-F4F3A0FB0910}" type="presOf" srcId="{9685B5D2-C03D-454C-AFCB-AF16F1AFF30A}" destId="{7213ACDD-1300-4AFA-9AB5-E26E0731F3BB}" srcOrd="0" destOrd="0" presId="urn:microsoft.com/office/officeart/2008/layout/LinedList"/>
    <dgm:cxn modelId="{B76136B6-0725-415C-ADD6-D40596253F4B}" type="presParOf" srcId="{18785146-56A6-43A6-91BA-FA8053B214BF}" destId="{C09A4F22-7CCA-49DB-BB77-B734292BE699}" srcOrd="0" destOrd="0" presId="urn:microsoft.com/office/officeart/2008/layout/LinedList"/>
    <dgm:cxn modelId="{2F9F9B83-A189-4743-9D96-6D80B847E5AC}" type="presParOf" srcId="{18785146-56A6-43A6-91BA-FA8053B214BF}" destId="{9EF335E0-4B40-4939-9E06-49BC34D5FA75}" srcOrd="1" destOrd="0" presId="urn:microsoft.com/office/officeart/2008/layout/LinedList"/>
    <dgm:cxn modelId="{3573B39F-472B-49D9-9BB6-171D493A8F92}" type="presParOf" srcId="{9EF335E0-4B40-4939-9E06-49BC34D5FA75}" destId="{51AF31AF-E512-4A93-B529-58678A7137E2}" srcOrd="0" destOrd="0" presId="urn:microsoft.com/office/officeart/2008/layout/LinedList"/>
    <dgm:cxn modelId="{DAE4BAA9-2047-458C-88CF-2A811FF17415}" type="presParOf" srcId="{9EF335E0-4B40-4939-9E06-49BC34D5FA75}" destId="{864F2C28-6E8A-447E-9DAC-2CF1F2478C1D}" srcOrd="1" destOrd="0" presId="urn:microsoft.com/office/officeart/2008/layout/LinedList"/>
    <dgm:cxn modelId="{45262100-8E1B-4FA9-B35B-AA7B6D66EA01}" type="presParOf" srcId="{18785146-56A6-43A6-91BA-FA8053B214BF}" destId="{83C4B76B-2113-483A-914C-7235302C36ED}" srcOrd="2" destOrd="0" presId="urn:microsoft.com/office/officeart/2008/layout/LinedList"/>
    <dgm:cxn modelId="{5384D7CD-717C-4573-8424-93F218403EEF}" type="presParOf" srcId="{18785146-56A6-43A6-91BA-FA8053B214BF}" destId="{C5575627-2640-482A-94EE-C02EFD78ABB6}" srcOrd="3" destOrd="0" presId="urn:microsoft.com/office/officeart/2008/layout/LinedList"/>
    <dgm:cxn modelId="{D9577556-9E6B-4307-8FD0-1904FA9AE826}" type="presParOf" srcId="{C5575627-2640-482A-94EE-C02EFD78ABB6}" destId="{09230138-8EA0-4DAC-A01F-BF6346D4FAD6}" srcOrd="0" destOrd="0" presId="urn:microsoft.com/office/officeart/2008/layout/LinedList"/>
    <dgm:cxn modelId="{892A12DA-DB48-4A9E-B393-181FA9EBB490}" type="presParOf" srcId="{C5575627-2640-482A-94EE-C02EFD78ABB6}" destId="{AD9FDF0B-9F69-4307-9A64-72AE4EBD7B4F}" srcOrd="1" destOrd="0" presId="urn:microsoft.com/office/officeart/2008/layout/LinedList"/>
    <dgm:cxn modelId="{80616815-E15B-4AA5-AC12-D0CC7873C961}" type="presParOf" srcId="{18785146-56A6-43A6-91BA-FA8053B214BF}" destId="{52494165-2A03-4A57-A99F-FA3520612EC3}" srcOrd="4" destOrd="0" presId="urn:microsoft.com/office/officeart/2008/layout/LinedList"/>
    <dgm:cxn modelId="{29CB2CAE-1A82-4BA5-B616-F2E42634F2F1}" type="presParOf" srcId="{18785146-56A6-43A6-91BA-FA8053B214BF}" destId="{A93F5A5E-78E2-4CD5-97AA-17DDAEC6C43E}" srcOrd="5" destOrd="0" presId="urn:microsoft.com/office/officeart/2008/layout/LinedList"/>
    <dgm:cxn modelId="{85897BE1-4EAF-4C26-9C73-6BE0B9A2D296}" type="presParOf" srcId="{A93F5A5E-78E2-4CD5-97AA-17DDAEC6C43E}" destId="{47283331-AA5B-4924-9BA4-C3834786B376}" srcOrd="0" destOrd="0" presId="urn:microsoft.com/office/officeart/2008/layout/LinedList"/>
    <dgm:cxn modelId="{3DD15203-BF41-424B-A955-014111C3696F}" type="presParOf" srcId="{A93F5A5E-78E2-4CD5-97AA-17DDAEC6C43E}" destId="{F2DD56D9-6AE1-4205-B176-915B3DD3C022}" srcOrd="1" destOrd="0" presId="urn:microsoft.com/office/officeart/2008/layout/LinedList"/>
    <dgm:cxn modelId="{D146695E-117C-4A56-BEFD-E0E97B3D0440}" type="presParOf" srcId="{18785146-56A6-43A6-91BA-FA8053B214BF}" destId="{FB1C80BF-0BFF-4A50-8700-F11F4EA512F0}" srcOrd="6" destOrd="0" presId="urn:microsoft.com/office/officeart/2008/layout/LinedList"/>
    <dgm:cxn modelId="{75535481-3010-4656-85CF-0C7D227C93E8}" type="presParOf" srcId="{18785146-56A6-43A6-91BA-FA8053B214BF}" destId="{0700EC34-0AEE-4566-AEC8-BFDE64243104}" srcOrd="7" destOrd="0" presId="urn:microsoft.com/office/officeart/2008/layout/LinedList"/>
    <dgm:cxn modelId="{FE9951D2-A858-4658-8636-DA712CFDE2A6}" type="presParOf" srcId="{0700EC34-0AEE-4566-AEC8-BFDE64243104}" destId="{F7115C90-5383-482E-8026-B5924ACC327E}" srcOrd="0" destOrd="0" presId="urn:microsoft.com/office/officeart/2008/layout/LinedList"/>
    <dgm:cxn modelId="{F3BFD4A7-C043-4C25-B0B5-263776746458}" type="presParOf" srcId="{0700EC34-0AEE-4566-AEC8-BFDE64243104}" destId="{C7062B81-9A4F-4DB8-BA21-22A9F112B857}" srcOrd="1" destOrd="0" presId="urn:microsoft.com/office/officeart/2008/layout/LinedList"/>
    <dgm:cxn modelId="{7053F926-627F-471B-A082-5C353327FF97}" type="presParOf" srcId="{18785146-56A6-43A6-91BA-FA8053B214BF}" destId="{876F35A4-379D-4857-A5E6-B0CAAB533FBE}" srcOrd="8" destOrd="0" presId="urn:microsoft.com/office/officeart/2008/layout/LinedList"/>
    <dgm:cxn modelId="{0C324120-F09F-4EBC-91D6-BAC60D909B46}" type="presParOf" srcId="{18785146-56A6-43A6-91BA-FA8053B214BF}" destId="{C2AC2A31-97DB-4376-9377-07F68EEEF1B5}" srcOrd="9" destOrd="0" presId="urn:microsoft.com/office/officeart/2008/layout/LinedList"/>
    <dgm:cxn modelId="{01987413-DEE3-477A-815E-46B027EEBA87}" type="presParOf" srcId="{C2AC2A31-97DB-4376-9377-07F68EEEF1B5}" destId="{7213ACDD-1300-4AFA-9AB5-E26E0731F3BB}" srcOrd="0" destOrd="0" presId="urn:microsoft.com/office/officeart/2008/layout/LinedList"/>
    <dgm:cxn modelId="{ED140109-B708-45FD-9E2C-718E168E884C}" type="presParOf" srcId="{C2AC2A31-97DB-4376-9377-07F68EEEF1B5}" destId="{5DA47041-A33B-4A88-B0F0-E612F82D3E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A9B961A-5DC9-4D82-A59F-28A1EADB14B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0ECAD7-4927-4A36-B8A5-9D251BE16F2E}">
      <dgm:prSet/>
      <dgm:spPr/>
      <dgm:t>
        <a:bodyPr/>
        <a:lstStyle/>
        <a:p>
          <a:r>
            <a:rPr lang="en-US" dirty="0"/>
            <a:t>Case 1: f(x) = sin(x), T = 0.1</a:t>
          </a:r>
        </a:p>
      </dgm:t>
    </dgm:pt>
    <dgm:pt modelId="{A13DF91E-BDC0-42F1-942B-7278254BD076}" type="parTrans" cxnId="{B8E34A49-61BA-439B-BED2-2FE199772AAF}">
      <dgm:prSet/>
      <dgm:spPr/>
      <dgm:t>
        <a:bodyPr/>
        <a:lstStyle/>
        <a:p>
          <a:endParaRPr lang="en-US"/>
        </a:p>
      </dgm:t>
    </dgm:pt>
    <dgm:pt modelId="{F01FB6E0-143E-436D-9FBB-CCDE1E4D5E3A}" type="sibTrans" cxnId="{B8E34A49-61BA-439B-BED2-2FE199772AAF}">
      <dgm:prSet/>
      <dgm:spPr/>
      <dgm:t>
        <a:bodyPr/>
        <a:lstStyle/>
        <a:p>
          <a:endParaRPr lang="en-US"/>
        </a:p>
      </dgm:t>
    </dgm:pt>
    <dgm:pt modelId="{DE2CFD69-0DEA-4AF7-B621-0A5593EB6F99}">
      <dgm:prSet/>
      <dgm:spPr/>
      <dgm:t>
        <a:bodyPr/>
        <a:lstStyle/>
        <a:p>
          <a:r>
            <a:rPr lang="en-US"/>
            <a:t>Case 2: f(x) = x(x−0.7)(x−1)², T = 0.42</a:t>
          </a:r>
        </a:p>
      </dgm:t>
    </dgm:pt>
    <dgm:pt modelId="{E43F45C3-28A1-4F33-9614-581FBBF94F1A}" type="parTrans" cxnId="{A895AAA6-EB82-4344-9603-A7FA6708F80C}">
      <dgm:prSet/>
      <dgm:spPr/>
      <dgm:t>
        <a:bodyPr/>
        <a:lstStyle/>
        <a:p>
          <a:endParaRPr lang="en-US"/>
        </a:p>
      </dgm:t>
    </dgm:pt>
    <dgm:pt modelId="{52EF62D5-CCB7-4399-89E2-115DDEBFCFF6}" type="sibTrans" cxnId="{A895AAA6-EB82-4344-9603-A7FA6708F80C}">
      <dgm:prSet/>
      <dgm:spPr/>
      <dgm:t>
        <a:bodyPr/>
        <a:lstStyle/>
        <a:p>
          <a:endParaRPr lang="en-US"/>
        </a:p>
      </dgm:t>
    </dgm:pt>
    <dgm:pt modelId="{05FA981C-94F4-4D6B-AA13-C5A6EBCA3B05}">
      <dgm:prSet/>
      <dgm:spPr/>
      <dgm:t>
        <a:bodyPr/>
        <a:lstStyle/>
        <a:p>
          <a:r>
            <a:rPr lang="en-US" dirty="0"/>
            <a:t>Case 3: same f(x), T = 7</a:t>
          </a:r>
        </a:p>
      </dgm:t>
    </dgm:pt>
    <dgm:pt modelId="{5CE95A5B-9558-416E-A27E-BAD9605EF56D}" type="parTrans" cxnId="{6CFD45E7-7F24-4552-9C51-4404643EF088}">
      <dgm:prSet/>
      <dgm:spPr/>
      <dgm:t>
        <a:bodyPr/>
        <a:lstStyle/>
        <a:p>
          <a:endParaRPr lang="en-US"/>
        </a:p>
      </dgm:t>
    </dgm:pt>
    <dgm:pt modelId="{13852BA6-6235-45DF-85B1-C12045ED0317}" type="sibTrans" cxnId="{6CFD45E7-7F24-4552-9C51-4404643EF088}">
      <dgm:prSet/>
      <dgm:spPr/>
      <dgm:t>
        <a:bodyPr/>
        <a:lstStyle/>
        <a:p>
          <a:endParaRPr lang="en-US"/>
        </a:p>
      </dgm:t>
    </dgm:pt>
    <dgm:pt modelId="{8DEA1483-8F3B-4B21-86EC-635C0EDA82FF}">
      <dgm:prSet/>
      <dgm:spPr/>
      <dgm:t>
        <a:bodyPr/>
        <a:lstStyle/>
        <a:p>
          <a:r>
            <a:rPr lang="en-US" dirty="0"/>
            <a:t>*Each shows how heat smooths over time from  initial shape</a:t>
          </a:r>
        </a:p>
      </dgm:t>
    </dgm:pt>
    <dgm:pt modelId="{1C7EECE1-61D0-4821-B013-57A37B10F510}" type="parTrans" cxnId="{50400360-FD7C-40E7-8BD8-75AB8129BF0A}">
      <dgm:prSet/>
      <dgm:spPr/>
      <dgm:t>
        <a:bodyPr/>
        <a:lstStyle/>
        <a:p>
          <a:endParaRPr lang="en-US"/>
        </a:p>
      </dgm:t>
    </dgm:pt>
    <dgm:pt modelId="{F1AF58AC-EB12-4F75-A725-DFB5A96508C8}" type="sibTrans" cxnId="{50400360-FD7C-40E7-8BD8-75AB8129BF0A}">
      <dgm:prSet/>
      <dgm:spPr/>
      <dgm:t>
        <a:bodyPr/>
        <a:lstStyle/>
        <a:p>
          <a:endParaRPr lang="en-US"/>
        </a:p>
      </dgm:t>
    </dgm:pt>
    <dgm:pt modelId="{76C22F93-C90C-B64A-960F-AB03B2AD5712}" type="pres">
      <dgm:prSet presAssocID="{DA9B961A-5DC9-4D82-A59F-28A1EADB14B3}" presName="diagram" presStyleCnt="0">
        <dgm:presLayoutVars>
          <dgm:dir/>
          <dgm:resizeHandles val="exact"/>
        </dgm:presLayoutVars>
      </dgm:prSet>
      <dgm:spPr/>
    </dgm:pt>
    <dgm:pt modelId="{C6E5DFDC-05F3-164E-BFA8-E4EEBBC0258D}" type="pres">
      <dgm:prSet presAssocID="{700ECAD7-4927-4A36-B8A5-9D251BE16F2E}" presName="node" presStyleLbl="node1" presStyleIdx="0" presStyleCnt="4">
        <dgm:presLayoutVars>
          <dgm:bulletEnabled val="1"/>
        </dgm:presLayoutVars>
      </dgm:prSet>
      <dgm:spPr/>
    </dgm:pt>
    <dgm:pt modelId="{727BA73C-5CD0-8840-B492-F6BC6A3A5F4B}" type="pres">
      <dgm:prSet presAssocID="{F01FB6E0-143E-436D-9FBB-CCDE1E4D5E3A}" presName="sibTrans" presStyleCnt="0"/>
      <dgm:spPr/>
    </dgm:pt>
    <dgm:pt modelId="{A1AA80BD-F572-DF49-BCA3-FA9FAA77D28E}" type="pres">
      <dgm:prSet presAssocID="{DE2CFD69-0DEA-4AF7-B621-0A5593EB6F99}" presName="node" presStyleLbl="node1" presStyleIdx="1" presStyleCnt="4">
        <dgm:presLayoutVars>
          <dgm:bulletEnabled val="1"/>
        </dgm:presLayoutVars>
      </dgm:prSet>
      <dgm:spPr/>
    </dgm:pt>
    <dgm:pt modelId="{5158A1BB-277D-994F-9C4A-C3C349268513}" type="pres">
      <dgm:prSet presAssocID="{52EF62D5-CCB7-4399-89E2-115DDEBFCFF6}" presName="sibTrans" presStyleCnt="0"/>
      <dgm:spPr/>
    </dgm:pt>
    <dgm:pt modelId="{B221FA7E-50B4-AE48-84BC-27E4465145A2}" type="pres">
      <dgm:prSet presAssocID="{05FA981C-94F4-4D6B-AA13-C5A6EBCA3B05}" presName="node" presStyleLbl="node1" presStyleIdx="2" presStyleCnt="4">
        <dgm:presLayoutVars>
          <dgm:bulletEnabled val="1"/>
        </dgm:presLayoutVars>
      </dgm:prSet>
      <dgm:spPr/>
    </dgm:pt>
    <dgm:pt modelId="{E224E185-03E9-F340-928F-BB87C2580AE6}" type="pres">
      <dgm:prSet presAssocID="{13852BA6-6235-45DF-85B1-C12045ED0317}" presName="sibTrans" presStyleCnt="0"/>
      <dgm:spPr/>
    </dgm:pt>
    <dgm:pt modelId="{90DA9D88-101F-444F-A521-D6F772689746}" type="pres">
      <dgm:prSet presAssocID="{8DEA1483-8F3B-4B21-86EC-635C0EDA82FF}" presName="node" presStyleLbl="node1" presStyleIdx="3" presStyleCnt="4">
        <dgm:presLayoutVars>
          <dgm:bulletEnabled val="1"/>
        </dgm:presLayoutVars>
      </dgm:prSet>
      <dgm:spPr/>
    </dgm:pt>
  </dgm:ptLst>
  <dgm:cxnLst>
    <dgm:cxn modelId="{CC292019-A7BB-B44D-A01D-F6C9D52F5159}" type="presOf" srcId="{700ECAD7-4927-4A36-B8A5-9D251BE16F2E}" destId="{C6E5DFDC-05F3-164E-BFA8-E4EEBBC0258D}" srcOrd="0" destOrd="0" presId="urn:microsoft.com/office/officeart/2005/8/layout/default"/>
    <dgm:cxn modelId="{7CB57533-0526-6E4D-91A1-5CDD64A60D42}" type="presOf" srcId="{DE2CFD69-0DEA-4AF7-B621-0A5593EB6F99}" destId="{A1AA80BD-F572-DF49-BCA3-FA9FAA77D28E}" srcOrd="0" destOrd="0" presId="urn:microsoft.com/office/officeart/2005/8/layout/default"/>
    <dgm:cxn modelId="{B8E34A49-61BA-439B-BED2-2FE199772AAF}" srcId="{DA9B961A-5DC9-4D82-A59F-28A1EADB14B3}" destId="{700ECAD7-4927-4A36-B8A5-9D251BE16F2E}" srcOrd="0" destOrd="0" parTransId="{A13DF91E-BDC0-42F1-942B-7278254BD076}" sibTransId="{F01FB6E0-143E-436D-9FBB-CCDE1E4D5E3A}"/>
    <dgm:cxn modelId="{AB126E49-0CC1-B345-98BD-5D412B638714}" type="presOf" srcId="{8DEA1483-8F3B-4B21-86EC-635C0EDA82FF}" destId="{90DA9D88-101F-444F-A521-D6F772689746}" srcOrd="0" destOrd="0" presId="urn:microsoft.com/office/officeart/2005/8/layout/default"/>
    <dgm:cxn modelId="{50400360-FD7C-40E7-8BD8-75AB8129BF0A}" srcId="{DA9B961A-5DC9-4D82-A59F-28A1EADB14B3}" destId="{8DEA1483-8F3B-4B21-86EC-635C0EDA82FF}" srcOrd="3" destOrd="0" parTransId="{1C7EECE1-61D0-4821-B013-57A37B10F510}" sibTransId="{F1AF58AC-EB12-4F75-A725-DFB5A96508C8}"/>
    <dgm:cxn modelId="{5A458184-00F2-7F46-BC76-643BF7602223}" type="presOf" srcId="{DA9B961A-5DC9-4D82-A59F-28A1EADB14B3}" destId="{76C22F93-C90C-B64A-960F-AB03B2AD5712}" srcOrd="0" destOrd="0" presId="urn:microsoft.com/office/officeart/2005/8/layout/default"/>
    <dgm:cxn modelId="{A895AAA6-EB82-4344-9603-A7FA6708F80C}" srcId="{DA9B961A-5DC9-4D82-A59F-28A1EADB14B3}" destId="{DE2CFD69-0DEA-4AF7-B621-0A5593EB6F99}" srcOrd="1" destOrd="0" parTransId="{E43F45C3-28A1-4F33-9614-581FBBF94F1A}" sibTransId="{52EF62D5-CCB7-4399-89E2-115DDEBFCFF6}"/>
    <dgm:cxn modelId="{8C5032B1-86E9-D247-AC98-9B73801AE4B0}" type="presOf" srcId="{05FA981C-94F4-4D6B-AA13-C5A6EBCA3B05}" destId="{B221FA7E-50B4-AE48-84BC-27E4465145A2}" srcOrd="0" destOrd="0" presId="urn:microsoft.com/office/officeart/2005/8/layout/default"/>
    <dgm:cxn modelId="{6CFD45E7-7F24-4552-9C51-4404643EF088}" srcId="{DA9B961A-5DC9-4D82-A59F-28A1EADB14B3}" destId="{05FA981C-94F4-4D6B-AA13-C5A6EBCA3B05}" srcOrd="2" destOrd="0" parTransId="{5CE95A5B-9558-416E-A27E-BAD9605EF56D}" sibTransId="{13852BA6-6235-45DF-85B1-C12045ED0317}"/>
    <dgm:cxn modelId="{AA83FBF6-33F6-F341-A5AD-D997FC98FB2C}" type="presParOf" srcId="{76C22F93-C90C-B64A-960F-AB03B2AD5712}" destId="{C6E5DFDC-05F3-164E-BFA8-E4EEBBC0258D}" srcOrd="0" destOrd="0" presId="urn:microsoft.com/office/officeart/2005/8/layout/default"/>
    <dgm:cxn modelId="{6C6F849B-22D9-C841-BAD5-58B63C323D33}" type="presParOf" srcId="{76C22F93-C90C-B64A-960F-AB03B2AD5712}" destId="{727BA73C-5CD0-8840-B492-F6BC6A3A5F4B}" srcOrd="1" destOrd="0" presId="urn:microsoft.com/office/officeart/2005/8/layout/default"/>
    <dgm:cxn modelId="{2271B622-DA2C-314D-BC42-E3B4F8120751}" type="presParOf" srcId="{76C22F93-C90C-B64A-960F-AB03B2AD5712}" destId="{A1AA80BD-F572-DF49-BCA3-FA9FAA77D28E}" srcOrd="2" destOrd="0" presId="urn:microsoft.com/office/officeart/2005/8/layout/default"/>
    <dgm:cxn modelId="{D249A7A5-4FC1-7349-B7DB-F299AEF5CF2B}" type="presParOf" srcId="{76C22F93-C90C-B64A-960F-AB03B2AD5712}" destId="{5158A1BB-277D-994F-9C4A-C3C349268513}" srcOrd="3" destOrd="0" presId="urn:microsoft.com/office/officeart/2005/8/layout/default"/>
    <dgm:cxn modelId="{8C6F5ABB-007A-9F43-B140-CF0390844843}" type="presParOf" srcId="{76C22F93-C90C-B64A-960F-AB03B2AD5712}" destId="{B221FA7E-50B4-AE48-84BC-27E4465145A2}" srcOrd="4" destOrd="0" presId="urn:microsoft.com/office/officeart/2005/8/layout/default"/>
    <dgm:cxn modelId="{9B9CFD1C-CE75-6C4F-9875-956383F6A8D0}" type="presParOf" srcId="{76C22F93-C90C-B64A-960F-AB03B2AD5712}" destId="{E224E185-03E9-F340-928F-BB87C2580AE6}" srcOrd="5" destOrd="0" presId="urn:microsoft.com/office/officeart/2005/8/layout/default"/>
    <dgm:cxn modelId="{C6CB32D1-1470-724A-A911-BB2A34CEB5B9}" type="presParOf" srcId="{76C22F93-C90C-B64A-960F-AB03B2AD5712}" destId="{90DA9D88-101F-444F-A521-D6F77268974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A4F22-7CCA-49DB-BB77-B734292BE699}">
      <dsp:nvSpPr>
        <dsp:cNvPr id="0" name=""/>
        <dsp:cNvSpPr/>
      </dsp:nvSpPr>
      <dsp:spPr>
        <a:xfrm>
          <a:off x="0" y="531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AF31AF-E512-4A93-B529-58678A7137E2}">
      <dsp:nvSpPr>
        <dsp:cNvPr id="0" name=""/>
        <dsp:cNvSpPr/>
      </dsp:nvSpPr>
      <dsp:spPr>
        <a:xfrm>
          <a:off x="0" y="531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The equation: ∂u/∂t = c · ∂²u/∂x²</a:t>
          </a:r>
        </a:p>
      </dsp:txBody>
      <dsp:txXfrm>
        <a:off x="0" y="531"/>
        <a:ext cx="7886700" cy="870055"/>
      </dsp:txXfrm>
    </dsp:sp>
    <dsp:sp modelId="{83C4B76B-2113-483A-914C-7235302C36ED}">
      <dsp:nvSpPr>
        <dsp:cNvPr id="0" name=""/>
        <dsp:cNvSpPr/>
      </dsp:nvSpPr>
      <dsp:spPr>
        <a:xfrm>
          <a:off x="0" y="870586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30138-8EA0-4DAC-A01F-BF6346D4FAD6}">
      <dsp:nvSpPr>
        <dsp:cNvPr id="0" name=""/>
        <dsp:cNvSpPr/>
      </dsp:nvSpPr>
      <dsp:spPr>
        <a:xfrm>
          <a:off x="0" y="870586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u(x, t): temperature at position x and time t</a:t>
          </a:r>
        </a:p>
      </dsp:txBody>
      <dsp:txXfrm>
        <a:off x="0" y="870586"/>
        <a:ext cx="7886700" cy="870055"/>
      </dsp:txXfrm>
    </dsp:sp>
    <dsp:sp modelId="{52494165-2A03-4A57-A99F-FA3520612EC3}">
      <dsp:nvSpPr>
        <dsp:cNvPr id="0" name=""/>
        <dsp:cNvSpPr/>
      </dsp:nvSpPr>
      <dsp:spPr>
        <a:xfrm>
          <a:off x="0" y="1740641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83331-AA5B-4924-9BA4-C3834786B376}">
      <dsp:nvSpPr>
        <dsp:cNvPr id="0" name=""/>
        <dsp:cNvSpPr/>
      </dsp:nvSpPr>
      <dsp:spPr>
        <a:xfrm>
          <a:off x="0" y="1740641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c: material constant (how fast heat spreads)</a:t>
          </a:r>
        </a:p>
      </dsp:txBody>
      <dsp:txXfrm>
        <a:off x="0" y="1740641"/>
        <a:ext cx="7886700" cy="870055"/>
      </dsp:txXfrm>
    </dsp:sp>
    <dsp:sp modelId="{FB1C80BF-0BFF-4A50-8700-F11F4EA512F0}">
      <dsp:nvSpPr>
        <dsp:cNvPr id="0" name=""/>
        <dsp:cNvSpPr/>
      </dsp:nvSpPr>
      <dsp:spPr>
        <a:xfrm>
          <a:off x="0" y="2610696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115C90-5383-482E-8026-B5924ACC327E}">
      <dsp:nvSpPr>
        <dsp:cNvPr id="0" name=""/>
        <dsp:cNvSpPr/>
      </dsp:nvSpPr>
      <dsp:spPr>
        <a:xfrm>
          <a:off x="0" y="2610696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Boundary: u(0,t) = u(L,t) = 0 (rod ends stay at 0°C)</a:t>
          </a:r>
        </a:p>
      </dsp:txBody>
      <dsp:txXfrm>
        <a:off x="0" y="2610696"/>
        <a:ext cx="7886700" cy="870055"/>
      </dsp:txXfrm>
    </dsp:sp>
    <dsp:sp modelId="{876F35A4-379D-4857-A5E6-B0CAAB533FBE}">
      <dsp:nvSpPr>
        <dsp:cNvPr id="0" name=""/>
        <dsp:cNvSpPr/>
      </dsp:nvSpPr>
      <dsp:spPr>
        <a:xfrm>
          <a:off x="0" y="3480751"/>
          <a:ext cx="78867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13ACDD-1300-4AFA-9AB5-E26E0731F3BB}">
      <dsp:nvSpPr>
        <dsp:cNvPr id="0" name=""/>
        <dsp:cNvSpPr/>
      </dsp:nvSpPr>
      <dsp:spPr>
        <a:xfrm>
          <a:off x="0" y="3480751"/>
          <a:ext cx="78867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Initial condition: u(x,0) = f(x), the starting temperature</a:t>
          </a:r>
        </a:p>
      </dsp:txBody>
      <dsp:txXfrm>
        <a:off x="0" y="3480751"/>
        <a:ext cx="7886700" cy="8700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E5DFDC-05F3-164E-BFA8-E4EEBBC0258D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Case 1: f(x) = sin(x), T = 0.1</a:t>
          </a:r>
        </a:p>
      </dsp:txBody>
      <dsp:txXfrm>
        <a:off x="715337" y="2413"/>
        <a:ext cx="3221521" cy="1932912"/>
      </dsp:txXfrm>
    </dsp:sp>
    <dsp:sp modelId="{A1AA80BD-F572-DF49-BCA3-FA9FAA77D28E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Case 2: f(x) = x(x−0.7)(x−1)², T = 0.42</a:t>
          </a:r>
        </a:p>
      </dsp:txBody>
      <dsp:txXfrm>
        <a:off x="4259011" y="2413"/>
        <a:ext cx="3221521" cy="1932912"/>
      </dsp:txXfrm>
    </dsp:sp>
    <dsp:sp modelId="{B221FA7E-50B4-AE48-84BC-27E4465145A2}">
      <dsp:nvSpPr>
        <dsp:cNvPr id="0" name=""/>
        <dsp:cNvSpPr/>
      </dsp:nvSpPr>
      <dsp:spPr>
        <a:xfrm>
          <a:off x="715337" y="2257478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Case 3: same f(x), T = 7</a:t>
          </a:r>
        </a:p>
      </dsp:txBody>
      <dsp:txXfrm>
        <a:off x="715337" y="2257478"/>
        <a:ext cx="3221521" cy="1932912"/>
      </dsp:txXfrm>
    </dsp:sp>
    <dsp:sp modelId="{90DA9D88-101F-444F-A521-D6F772689746}">
      <dsp:nvSpPr>
        <dsp:cNvPr id="0" name=""/>
        <dsp:cNvSpPr/>
      </dsp:nvSpPr>
      <dsp:spPr>
        <a:xfrm>
          <a:off x="4259011" y="2257478"/>
          <a:ext cx="3221521" cy="193291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*Each shows how heat smooths over time from  initial shape</a:t>
          </a:r>
        </a:p>
      </dsp:txBody>
      <dsp:txXfrm>
        <a:off x="4259011" y="2257478"/>
        <a:ext cx="3221521" cy="1932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openai.com/" TargetMode="External"/><Relationship Id="rId2" Type="http://schemas.openxmlformats.org/officeDocument/2006/relationships/hyperlink" Target="https://www.3blue1brown.com/lessons/heat-equatio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k.mathworks.com/help/matlab/ref/struct.html" TargetMode="External"/><Relationship Id="rId5" Type="http://schemas.openxmlformats.org/officeDocument/2006/relationships/hyperlink" Target="https://www.mathworks.com/help/matlab/math/solve-system-of-pdes.html" TargetMode="External"/><Relationship Id="rId4" Type="http://schemas.openxmlformats.org/officeDocument/2006/relationships/hyperlink" Target="https://uk.mathworks.com/help/?s_tid=mlh_sn_help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0940" y="3351756"/>
            <a:ext cx="3604497" cy="1068887"/>
          </a:xfrm>
        </p:spPr>
        <p:txBody>
          <a:bodyPr anchor="t">
            <a:normAutofit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</a:rPr>
              <a:t>Solving the 1D Heat Equation in MATLAB</a:t>
            </a:r>
          </a:p>
        </p:txBody>
      </p:sp>
      <p:pic>
        <p:nvPicPr>
          <p:cNvPr id="7" name="Graphic 6" descr="Atom">
            <a:extLst>
              <a:ext uri="{FF2B5EF4-FFF2-40B4-BE49-F238E27FC236}">
                <a16:creationId xmlns:a16="http://schemas.microsoft.com/office/drawing/2014/main" id="{039AFA6A-2151-1DEB-DB67-736A72AE64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Introduction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39" y="2512243"/>
            <a:ext cx="4439061" cy="4070350"/>
          </a:xfrm>
        </p:spPr>
        <p:txBody>
          <a:bodyPr anchor="ctr">
            <a:noAutofit/>
          </a:bodyPr>
          <a:lstStyle/>
          <a:p>
            <a:r>
              <a:rPr lang="en-US" sz="2400" dirty="0"/>
              <a:t>We solve how temperature spreads in a metal rod over time.</a:t>
            </a:r>
          </a:p>
          <a:p>
            <a:r>
              <a:rPr lang="en-US" sz="2400" dirty="0"/>
              <a:t>This is based on the 1D heat equation, a partial differential equation (PDE).</a:t>
            </a:r>
          </a:p>
          <a:p>
            <a:r>
              <a:rPr lang="en-US" sz="2400" dirty="0"/>
              <a:t>We use MATLAB to compute an approximate solution using finite differences.</a:t>
            </a:r>
          </a:p>
          <a:p>
            <a:r>
              <a:rPr lang="en-US" sz="2400" dirty="0"/>
              <a:t>We visualize the temperature change in 2D and 3D plots.</a:t>
            </a:r>
          </a:p>
        </p:txBody>
      </p:sp>
      <p:pic>
        <p:nvPicPr>
          <p:cNvPr id="5" name="Picture 4" descr="Zickzack-Anzeigelinie">
            <a:extLst>
              <a:ext uri="{FF2B5EF4-FFF2-40B4-BE49-F238E27FC236}">
                <a16:creationId xmlns:a16="http://schemas.microsoft.com/office/drawing/2014/main" id="{BF2B169E-0241-1D89-CD8E-AA54656C05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02" r="30148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What is the Heat Equation?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D8A46AA-5309-49F3-8057-754005F69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5258562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dirty="0">
                <a:solidFill>
                  <a:srgbClr val="FFFFFF"/>
                </a:solidFill>
              </a:rPr>
              <a:t>Numerical Solution – Finite Difference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We use a grid with M points in space and N in time.</a:t>
            </a:r>
          </a:p>
          <a:p>
            <a:r>
              <a:rPr lang="en-US" sz="2400" dirty="0"/>
              <a:t>dx = L / (M-1), dt = T / (N-1)</a:t>
            </a:r>
          </a:p>
          <a:p>
            <a:r>
              <a:rPr lang="en-US" sz="2400" dirty="0"/>
              <a:t>We approximate the heat equation with this formula:</a:t>
            </a:r>
          </a:p>
          <a:p>
            <a:r>
              <a:rPr lang="en-US" sz="2400" dirty="0"/>
              <a:t>U(m,n+1) = U(</a:t>
            </a:r>
            <a:r>
              <a:rPr lang="en-US" sz="2400" dirty="0" err="1"/>
              <a:t>m,n</a:t>
            </a:r>
            <a:r>
              <a:rPr lang="en-US" sz="2400" dirty="0"/>
              <a:t>) + r * (U(m+1,n) - 2*U(</a:t>
            </a:r>
            <a:r>
              <a:rPr lang="en-US" sz="2400" dirty="0" err="1"/>
              <a:t>m,n</a:t>
            </a:r>
            <a:r>
              <a:rPr lang="en-US" sz="2400" dirty="0"/>
              <a:t>) + U(m-1,n))</a:t>
            </a:r>
          </a:p>
          <a:p>
            <a:r>
              <a:rPr lang="en-US" sz="2400" dirty="0"/>
              <a:t>Where r = c * dt / dx² (must be ≤ 0.5 for stability)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DB7E1-F908-119D-6569-69D7E1791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1 Code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3EE88B-71F5-0D5C-F302-7C8684300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8182" y="1600200"/>
            <a:ext cx="7007635" cy="4525963"/>
          </a:xfrm>
        </p:spPr>
      </p:pic>
    </p:spTree>
    <p:extLst>
      <p:ext uri="{BB962C8B-B14F-4D97-AF65-F5344CB8AC3E}">
        <p14:creationId xmlns:p14="http://schemas.microsoft.com/office/powerpoint/2010/main" val="2368509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MATLAB Function: </a:t>
            </a:r>
            <a:r>
              <a:rPr lang="en-US" sz="4000" dirty="0" err="1">
                <a:solidFill>
                  <a:srgbClr val="FFFFFF"/>
                </a:solidFill>
              </a:rPr>
              <a:t>heatsolution.m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Inputs: f (initial temp), M, N, c, L, T</a:t>
            </a:r>
          </a:p>
          <a:p>
            <a:r>
              <a:rPr lang="en-US" sz="2400" dirty="0"/>
              <a:t>Initializes grid and time step values</a:t>
            </a:r>
          </a:p>
          <a:p>
            <a:r>
              <a:rPr lang="en-US" sz="2400" dirty="0"/>
              <a:t>Applies finite difference formula in a loop</a:t>
            </a:r>
          </a:p>
          <a:p>
            <a:r>
              <a:rPr lang="en-US" sz="2400" dirty="0"/>
              <a:t>Handles boundary conditions (u=0 at rod ends)</a:t>
            </a:r>
          </a:p>
          <a:p>
            <a:r>
              <a:rPr lang="en-US" sz="2400" dirty="0"/>
              <a:t>Outputs matrix U: temperature at each space and time step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Important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f(x): Initial temperature (e.g. sin(x))</a:t>
            </a:r>
          </a:p>
          <a:p>
            <a:r>
              <a:rPr lang="en-US" sz="2400" dirty="0"/>
              <a:t>M: number of spatial points</a:t>
            </a:r>
          </a:p>
          <a:p>
            <a:r>
              <a:rPr lang="en-US" sz="2400" dirty="0"/>
              <a:t>N: number of time points</a:t>
            </a:r>
          </a:p>
          <a:p>
            <a:r>
              <a:rPr lang="en-US" sz="2400" dirty="0"/>
              <a:t>L: length of rod, T: total time</a:t>
            </a:r>
          </a:p>
          <a:p>
            <a:r>
              <a:rPr lang="en-US" sz="2400" dirty="0"/>
              <a:t>c: material constant, usually 1</a:t>
            </a:r>
          </a:p>
          <a:p>
            <a:r>
              <a:rPr lang="en-US" sz="2400" dirty="0"/>
              <a:t>dx, dt: step sizes in space and time</a:t>
            </a:r>
          </a:p>
          <a:p>
            <a:r>
              <a:rPr lang="en-US" sz="2400" dirty="0"/>
              <a:t>r: stability ratio = c * dt / dx²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D986-A3FD-0C3F-590E-AF73D4F30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Task 2 Code</a:t>
            </a:r>
            <a:endParaRPr lang="en-US" dirty="0"/>
          </a:p>
        </p:txBody>
      </p:sp>
      <p:pic>
        <p:nvPicPr>
          <p:cNvPr id="11" name="Content Placeholder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3CCF1A0-F8D2-C414-E3C1-4B901C56F6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83102"/>
            <a:ext cx="8229600" cy="4360159"/>
          </a:xfrm>
        </p:spPr>
      </p:pic>
    </p:spTree>
    <p:extLst>
      <p:ext uri="{BB962C8B-B14F-4D97-AF65-F5344CB8AC3E}">
        <p14:creationId xmlns:p14="http://schemas.microsoft.com/office/powerpoint/2010/main" val="55465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MATLAB Script: </a:t>
            </a:r>
            <a:r>
              <a:rPr lang="en-US" sz="4000" dirty="0" err="1">
                <a:solidFill>
                  <a:schemeClr val="bg1"/>
                </a:solidFill>
              </a:rPr>
              <a:t>heatplots.m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7410669" cy="3959619"/>
          </a:xfrm>
        </p:spPr>
        <p:txBody>
          <a:bodyPr>
            <a:normAutofit/>
          </a:bodyPr>
          <a:lstStyle/>
          <a:p>
            <a:r>
              <a:rPr lang="en-US" sz="2400" dirty="0"/>
              <a:t>Runs three test cases with different f(x) and T</a:t>
            </a:r>
          </a:p>
          <a:p>
            <a:r>
              <a:rPr lang="en-US" sz="2400" dirty="0"/>
              <a:t>Each case simulates heat flow using </a:t>
            </a:r>
            <a:r>
              <a:rPr lang="en-US" sz="2400" dirty="0" err="1"/>
              <a:t>heatsolution.m</a:t>
            </a:r>
            <a:endParaRPr lang="en-US" sz="2400" dirty="0"/>
          </a:p>
          <a:p>
            <a:r>
              <a:rPr lang="en-US" sz="2400" dirty="0"/>
              <a:t>Plots 3D surface: u(</a:t>
            </a:r>
            <a:r>
              <a:rPr lang="en-US" sz="2400" dirty="0" err="1"/>
              <a:t>x,t</a:t>
            </a:r>
            <a:r>
              <a:rPr lang="en-US" sz="2400" dirty="0"/>
              <a:t>) over time and space</a:t>
            </a:r>
          </a:p>
          <a:p>
            <a:r>
              <a:rPr lang="en-US" sz="2400" dirty="0"/>
              <a:t>Plots 2D slices: temperature at t = 0, mid, and 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5A8E3A-A12A-3305-75FD-C4B1870B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8615"/>
            <a:ext cx="7886700" cy="165787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Heat plots 2D and 3D</a:t>
            </a:r>
          </a:p>
        </p:txBody>
      </p:sp>
      <p:pic>
        <p:nvPicPr>
          <p:cNvPr id="7" name="Picture 6" descr="A graph of a temperature with Gateway Arch in the background&#10;&#10;AI-generated content may be incorrect.">
            <a:extLst>
              <a:ext uri="{FF2B5EF4-FFF2-40B4-BE49-F238E27FC236}">
                <a16:creationId xmlns:a16="http://schemas.microsoft.com/office/drawing/2014/main" id="{89F625F1-8BA1-609A-3F86-F7F4AF38A2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5" r="6385" b="-5"/>
          <a:stretch>
            <a:fillRect/>
          </a:stretch>
        </p:blipFill>
        <p:spPr>
          <a:xfrm>
            <a:off x="149056" y="2028574"/>
            <a:ext cx="2851754" cy="2043469"/>
          </a:xfrm>
          <a:prstGeom prst="rect">
            <a:avLst/>
          </a:prstGeom>
        </p:spPr>
      </p:pic>
      <p:pic>
        <p:nvPicPr>
          <p:cNvPr id="15" name="Picture 14" descr="A graph with a red line&#10;&#10;AI-generated content may be incorrect.">
            <a:extLst>
              <a:ext uri="{FF2B5EF4-FFF2-40B4-BE49-F238E27FC236}">
                <a16:creationId xmlns:a16="http://schemas.microsoft.com/office/drawing/2014/main" id="{C4D1F5C0-454E-00DB-BD8B-9D1FBD6D7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60" r="3083" b="-3"/>
          <a:stretch>
            <a:fillRect/>
          </a:stretch>
        </p:blipFill>
        <p:spPr>
          <a:xfrm>
            <a:off x="6143192" y="2008318"/>
            <a:ext cx="2851753" cy="2043469"/>
          </a:xfrm>
          <a:prstGeom prst="rect">
            <a:avLst/>
          </a:prstGeom>
        </p:spPr>
      </p:pic>
      <p:pic>
        <p:nvPicPr>
          <p:cNvPr id="11" name="Picture 10" descr="A graph of a graph&#10;&#10;AI-generated content may be incorrect.">
            <a:extLst>
              <a:ext uri="{FF2B5EF4-FFF2-40B4-BE49-F238E27FC236}">
                <a16:creationId xmlns:a16="http://schemas.microsoft.com/office/drawing/2014/main" id="{EE9E890D-A99C-6239-4D77-D5F95BC871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545" r="-3" b="-3"/>
          <a:stretch>
            <a:fillRect/>
          </a:stretch>
        </p:blipFill>
        <p:spPr>
          <a:xfrm>
            <a:off x="3162663" y="2008317"/>
            <a:ext cx="2851753" cy="2043469"/>
          </a:xfrm>
          <a:prstGeom prst="rect">
            <a:avLst/>
          </a:prstGeom>
        </p:spPr>
      </p:pic>
      <p:pic>
        <p:nvPicPr>
          <p:cNvPr id="5" name="Content Placeholder 4" descr="A rainbow colored graph on a grid&#10;&#10;AI-generated content may be incorrect.">
            <a:extLst>
              <a:ext uri="{FF2B5EF4-FFF2-40B4-BE49-F238E27FC236}">
                <a16:creationId xmlns:a16="http://schemas.microsoft.com/office/drawing/2014/main" id="{F952C0F2-AF53-0C19-1EE7-2CACD89245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9462" r="5064" b="4"/>
          <a:stretch>
            <a:fillRect/>
          </a:stretch>
        </p:blipFill>
        <p:spPr>
          <a:xfrm>
            <a:off x="139045" y="4257335"/>
            <a:ext cx="2851754" cy="2043469"/>
          </a:xfrm>
          <a:prstGeom prst="rect">
            <a:avLst/>
          </a:prstGeom>
        </p:spPr>
      </p:pic>
      <p:pic>
        <p:nvPicPr>
          <p:cNvPr id="9" name="Picture 8" descr="A graph of heat distribution&#10;&#10;AI-generated content may be incorrect.">
            <a:extLst>
              <a:ext uri="{FF2B5EF4-FFF2-40B4-BE49-F238E27FC236}">
                <a16:creationId xmlns:a16="http://schemas.microsoft.com/office/drawing/2014/main" id="{85C86DE6-3D55-B888-5B94-393DB1CFBDF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783" r="9743" b="4"/>
          <a:stretch>
            <a:fillRect/>
          </a:stretch>
        </p:blipFill>
        <p:spPr>
          <a:xfrm>
            <a:off x="3146625" y="4257335"/>
            <a:ext cx="2851753" cy="2043469"/>
          </a:xfrm>
          <a:prstGeom prst="rect">
            <a:avLst/>
          </a:prstGeom>
        </p:spPr>
      </p:pic>
      <p:pic>
        <p:nvPicPr>
          <p:cNvPr id="13" name="Picture 12" descr="A graph of heat distribution&#10;&#10;AI-generated content may be incorrect.">
            <a:extLst>
              <a:ext uri="{FF2B5EF4-FFF2-40B4-BE49-F238E27FC236}">
                <a16:creationId xmlns:a16="http://schemas.microsoft.com/office/drawing/2014/main" id="{887C60C6-4D2E-8A0B-4146-498AC2966D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679" r="6800" b="2"/>
          <a:stretch>
            <a:fillRect/>
          </a:stretch>
        </p:blipFill>
        <p:spPr>
          <a:xfrm>
            <a:off x="6128175" y="4250547"/>
            <a:ext cx="2851753" cy="204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8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Test Cases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5BA99C-2924-AA0E-B6C6-286A0C7CDA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17269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What We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Autofit/>
          </a:bodyPr>
          <a:lstStyle/>
          <a:p>
            <a:r>
              <a:rPr lang="en-US" sz="2400" dirty="0"/>
              <a:t>How to model physical systems using code.</a:t>
            </a:r>
          </a:p>
          <a:p>
            <a:r>
              <a:rPr lang="en-US" sz="2400" dirty="0"/>
              <a:t>Understanding and applying the heat equation.</a:t>
            </a:r>
          </a:p>
          <a:p>
            <a:r>
              <a:rPr lang="en-US" sz="2400" dirty="0"/>
              <a:t>Finite difference method and stability rules.</a:t>
            </a:r>
          </a:p>
          <a:p>
            <a:r>
              <a:rPr lang="en-US" sz="2400" dirty="0"/>
              <a:t>Writing functions and scripts in MATLAB.</a:t>
            </a:r>
          </a:p>
          <a:p>
            <a:r>
              <a:rPr lang="en-US" sz="2400" dirty="0"/>
              <a:t>Visualizing results in 2D and 3D.</a:t>
            </a:r>
          </a:p>
        </p:txBody>
      </p:sp>
      <p:pic>
        <p:nvPicPr>
          <p:cNvPr id="5" name="Picture 4" descr="Komplexe mathematische Formeln auf einer Tafel">
            <a:extLst>
              <a:ext uri="{FF2B5EF4-FFF2-40B4-BE49-F238E27FC236}">
                <a16:creationId xmlns:a16="http://schemas.microsoft.com/office/drawing/2014/main" id="{A238C570-FEB1-E1CC-B04D-B96F91AF7E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702" r="21781" b="2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8C1DB9-680E-09CB-EB9C-EF1C696F2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information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72F0B3-D12B-F71F-CD06-F80937C07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1"/>
            <a:ext cx="8460658" cy="2745658"/>
          </a:xfrm>
        </p:spPr>
        <p:txBody>
          <a:bodyPr>
            <a:normAutofit/>
          </a:bodyPr>
          <a:lstStyle/>
          <a:p>
            <a:r>
              <a:rPr lang="en-US" sz="2400" dirty="0">
                <a:hlinkClick r:id="rId2"/>
              </a:rPr>
              <a:t>https://www.3blue1brown.com/lessons/heat-equation</a:t>
            </a:r>
            <a:endParaRPr lang="en-US" sz="2400" dirty="0"/>
          </a:p>
          <a:p>
            <a:r>
              <a:rPr lang="en-US" sz="2400" dirty="0">
                <a:hlinkClick r:id="rId3"/>
              </a:rPr>
              <a:t>https://chat.openai.com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https://uk.mathworks.com/help/?s_tid=mlh_sn_help</a:t>
            </a:r>
            <a:endParaRPr lang="en-US" sz="2400" dirty="0"/>
          </a:p>
          <a:p>
            <a:r>
              <a:rPr lang="en-US" sz="2400" dirty="0">
                <a:hlinkClick r:id="rId5"/>
              </a:rPr>
              <a:t>https://www.mathworks.com/help/matlab/math/solve-system-of-pdes.html</a:t>
            </a:r>
            <a:r>
              <a:rPr lang="en-US" sz="2400" dirty="0"/>
              <a:t> </a:t>
            </a:r>
          </a:p>
          <a:p>
            <a:r>
              <a:rPr lang="en-US" sz="2400" dirty="0">
                <a:hlinkClick r:id="rId6"/>
              </a:rPr>
              <a:t>https://uk.mathworks.com/help/matlab/ref/struct.html</a:t>
            </a:r>
            <a:r>
              <a:rPr lang="en-US" sz="2400" dirty="0"/>
              <a:t> </a:t>
            </a: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56218158-0832-2211-3CE3-555A8003259A}"/>
              </a:ext>
            </a:extLst>
          </p:cNvPr>
          <p:cNvSpPr txBox="1">
            <a:spLocks/>
          </p:cNvSpPr>
          <p:nvPr/>
        </p:nvSpPr>
        <p:spPr>
          <a:xfrm>
            <a:off x="457200" y="4916563"/>
            <a:ext cx="8229600" cy="1666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/>
              <a:buNone/>
            </a:pPr>
            <a:r>
              <a:rPr lang="en-US" sz="2400" dirty="0"/>
              <a:t>*We used MATLAB documentation, a video by 3Blue1Brown, and got some help from ChatGPT to fix minor code bugs and language phrasing. </a:t>
            </a:r>
          </a:p>
        </p:txBody>
      </p:sp>
    </p:spTree>
    <p:extLst>
      <p:ext uri="{BB962C8B-B14F-4D97-AF65-F5344CB8AC3E}">
        <p14:creationId xmlns:p14="http://schemas.microsoft.com/office/powerpoint/2010/main" val="4159767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9A180FF3-DF8F-D5B8-7011-C71F3ECDA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741" y="2165637"/>
            <a:ext cx="2526726" cy="2526726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0"/>
            <a:ext cx="5671506" cy="68580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22845D5-574D-FF2A-577A-7A97CB3D2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545" y="762538"/>
            <a:ext cx="4237012" cy="31998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5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Thanks for your attention! 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8261" y="4043302"/>
            <a:ext cx="3977640" cy="18288"/>
          </a:xfrm>
          <a:custGeom>
            <a:avLst/>
            <a:gdLst>
              <a:gd name="connsiteX0" fmla="*/ 0 w 3977640"/>
              <a:gd name="connsiteY0" fmla="*/ 0 h 18288"/>
              <a:gd name="connsiteX1" fmla="*/ 742493 w 3977640"/>
              <a:gd name="connsiteY1" fmla="*/ 0 h 18288"/>
              <a:gd name="connsiteX2" fmla="*/ 1445209 w 3977640"/>
              <a:gd name="connsiteY2" fmla="*/ 0 h 18288"/>
              <a:gd name="connsiteX3" fmla="*/ 2147926 w 3977640"/>
              <a:gd name="connsiteY3" fmla="*/ 0 h 18288"/>
              <a:gd name="connsiteX4" fmla="*/ 2691536 w 3977640"/>
              <a:gd name="connsiteY4" fmla="*/ 0 h 18288"/>
              <a:gd name="connsiteX5" fmla="*/ 3274924 w 3977640"/>
              <a:gd name="connsiteY5" fmla="*/ 0 h 18288"/>
              <a:gd name="connsiteX6" fmla="*/ 3977640 w 3977640"/>
              <a:gd name="connsiteY6" fmla="*/ 0 h 18288"/>
              <a:gd name="connsiteX7" fmla="*/ 3977640 w 3977640"/>
              <a:gd name="connsiteY7" fmla="*/ 18288 h 18288"/>
              <a:gd name="connsiteX8" fmla="*/ 3314700 w 3977640"/>
              <a:gd name="connsiteY8" fmla="*/ 18288 h 18288"/>
              <a:gd name="connsiteX9" fmla="*/ 2771089 w 3977640"/>
              <a:gd name="connsiteY9" fmla="*/ 18288 h 18288"/>
              <a:gd name="connsiteX10" fmla="*/ 2227478 w 3977640"/>
              <a:gd name="connsiteY10" fmla="*/ 18288 h 18288"/>
              <a:gd name="connsiteX11" fmla="*/ 1524762 w 3977640"/>
              <a:gd name="connsiteY11" fmla="*/ 18288 h 18288"/>
              <a:gd name="connsiteX12" fmla="*/ 941375 w 3977640"/>
              <a:gd name="connsiteY12" fmla="*/ 18288 h 18288"/>
              <a:gd name="connsiteX13" fmla="*/ 0 w 3977640"/>
              <a:gd name="connsiteY13" fmla="*/ 18288 h 18288"/>
              <a:gd name="connsiteX14" fmla="*/ 0 w 397764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77640" h="18288" fill="none" extrusionOk="0">
                <a:moveTo>
                  <a:pt x="0" y="0"/>
                </a:moveTo>
                <a:cubicBezTo>
                  <a:pt x="362724" y="-2785"/>
                  <a:pt x="438784" y="-35866"/>
                  <a:pt x="742493" y="0"/>
                </a:cubicBezTo>
                <a:cubicBezTo>
                  <a:pt x="1046202" y="35866"/>
                  <a:pt x="1214361" y="6330"/>
                  <a:pt x="1445209" y="0"/>
                </a:cubicBezTo>
                <a:cubicBezTo>
                  <a:pt x="1676057" y="-6330"/>
                  <a:pt x="1906372" y="-3266"/>
                  <a:pt x="2147926" y="0"/>
                </a:cubicBezTo>
                <a:cubicBezTo>
                  <a:pt x="2389480" y="3266"/>
                  <a:pt x="2520714" y="16824"/>
                  <a:pt x="2691536" y="0"/>
                </a:cubicBezTo>
                <a:cubicBezTo>
                  <a:pt x="2862358" y="-16824"/>
                  <a:pt x="3036508" y="-14038"/>
                  <a:pt x="3274924" y="0"/>
                </a:cubicBezTo>
                <a:cubicBezTo>
                  <a:pt x="3513340" y="14038"/>
                  <a:pt x="3634141" y="-18809"/>
                  <a:pt x="3977640" y="0"/>
                </a:cubicBezTo>
                <a:cubicBezTo>
                  <a:pt x="3977140" y="8855"/>
                  <a:pt x="3977749" y="14521"/>
                  <a:pt x="3977640" y="18288"/>
                </a:cubicBezTo>
                <a:cubicBezTo>
                  <a:pt x="3757007" y="32029"/>
                  <a:pt x="3469003" y="-5112"/>
                  <a:pt x="3314700" y="18288"/>
                </a:cubicBezTo>
                <a:cubicBezTo>
                  <a:pt x="3160397" y="41688"/>
                  <a:pt x="2914663" y="19512"/>
                  <a:pt x="2771089" y="18288"/>
                </a:cubicBezTo>
                <a:cubicBezTo>
                  <a:pt x="2627515" y="17064"/>
                  <a:pt x="2417576" y="42034"/>
                  <a:pt x="2227478" y="18288"/>
                </a:cubicBezTo>
                <a:cubicBezTo>
                  <a:pt x="2037380" y="-5458"/>
                  <a:pt x="1775246" y="-2032"/>
                  <a:pt x="1524762" y="18288"/>
                </a:cubicBezTo>
                <a:cubicBezTo>
                  <a:pt x="1274278" y="38608"/>
                  <a:pt x="1225405" y="46940"/>
                  <a:pt x="941375" y="18288"/>
                </a:cubicBezTo>
                <a:cubicBezTo>
                  <a:pt x="657345" y="-10364"/>
                  <a:pt x="468340" y="57851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3977640" h="18288" stroke="0" extrusionOk="0">
                <a:moveTo>
                  <a:pt x="0" y="0"/>
                </a:moveTo>
                <a:cubicBezTo>
                  <a:pt x="167643" y="7540"/>
                  <a:pt x="416663" y="12011"/>
                  <a:pt x="623164" y="0"/>
                </a:cubicBezTo>
                <a:cubicBezTo>
                  <a:pt x="829665" y="-12011"/>
                  <a:pt x="908844" y="7531"/>
                  <a:pt x="1166774" y="0"/>
                </a:cubicBezTo>
                <a:cubicBezTo>
                  <a:pt x="1424704" y="-7531"/>
                  <a:pt x="1745729" y="22552"/>
                  <a:pt x="1909267" y="0"/>
                </a:cubicBezTo>
                <a:cubicBezTo>
                  <a:pt x="2072805" y="-22552"/>
                  <a:pt x="2313264" y="2550"/>
                  <a:pt x="2532431" y="0"/>
                </a:cubicBezTo>
                <a:cubicBezTo>
                  <a:pt x="2751598" y="-2550"/>
                  <a:pt x="2914229" y="-1772"/>
                  <a:pt x="3155594" y="0"/>
                </a:cubicBezTo>
                <a:cubicBezTo>
                  <a:pt x="3396959" y="1772"/>
                  <a:pt x="3603015" y="-38331"/>
                  <a:pt x="3977640" y="0"/>
                </a:cubicBezTo>
                <a:cubicBezTo>
                  <a:pt x="3976742" y="7180"/>
                  <a:pt x="3977809" y="13790"/>
                  <a:pt x="3977640" y="18288"/>
                </a:cubicBezTo>
                <a:cubicBezTo>
                  <a:pt x="3733612" y="44026"/>
                  <a:pt x="3504694" y="34704"/>
                  <a:pt x="3314700" y="18288"/>
                </a:cubicBezTo>
                <a:cubicBezTo>
                  <a:pt x="3124706" y="1872"/>
                  <a:pt x="2970848" y="41228"/>
                  <a:pt x="2771089" y="18288"/>
                </a:cubicBezTo>
                <a:cubicBezTo>
                  <a:pt x="2571330" y="-4652"/>
                  <a:pt x="2374617" y="32581"/>
                  <a:pt x="2108149" y="18288"/>
                </a:cubicBezTo>
                <a:cubicBezTo>
                  <a:pt x="1841681" y="3995"/>
                  <a:pt x="1730147" y="-7187"/>
                  <a:pt x="1445209" y="18288"/>
                </a:cubicBezTo>
                <a:cubicBezTo>
                  <a:pt x="1160271" y="43763"/>
                  <a:pt x="1128446" y="30981"/>
                  <a:pt x="822046" y="18288"/>
                </a:cubicBezTo>
                <a:cubicBezTo>
                  <a:pt x="515646" y="5595"/>
                  <a:pt x="401539" y="48208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93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642</Words>
  <Application>Microsoft Macintosh PowerPoint</Application>
  <PresentationFormat>On-screen Show (4:3)</PresentationFormat>
  <Paragraphs>59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Solving the 1D Heat Equation in MATLAB</vt:lpstr>
      <vt:lpstr>Introduction</vt:lpstr>
      <vt:lpstr>What is the Heat Equation?</vt:lpstr>
      <vt:lpstr>Numerical Solution – Finite Difference Method</vt:lpstr>
      <vt:lpstr>Task 1 Code</vt:lpstr>
      <vt:lpstr>MATLAB Function: heatsolution.m</vt:lpstr>
      <vt:lpstr>Important Variables</vt:lpstr>
      <vt:lpstr>Task 2 Code</vt:lpstr>
      <vt:lpstr>MATLAB Script: heatplots.m</vt:lpstr>
      <vt:lpstr>Heat plots 2D and 3D</vt:lpstr>
      <vt:lpstr>Test Cases</vt:lpstr>
      <vt:lpstr>What We Learned</vt:lpstr>
      <vt:lpstr>Sources of information</vt:lpstr>
      <vt:lpstr>Thanks for your attention!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emi ami</dc:creator>
  <cp:keywords/>
  <dc:description>generated using python-pptx</dc:description>
  <cp:lastModifiedBy>David Anumnu</cp:lastModifiedBy>
  <cp:revision>5</cp:revision>
  <dcterms:created xsi:type="dcterms:W3CDTF">2013-01-27T09:14:16Z</dcterms:created>
  <dcterms:modified xsi:type="dcterms:W3CDTF">2025-07-07T13:22:32Z</dcterms:modified>
  <cp:category/>
</cp:coreProperties>
</file>